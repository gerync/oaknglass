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57" r:id="rId20"/>
  </p:sldIdLst>
  <p:sldSz cx="12192000" cy="6858000"/>
  <p:notesSz cx="6858000" cy="9144000"/>
  <p:embeddedFontLst>
    <p:embeddedFont>
      <p:font typeface="Texturina" pitchFamily="2" charset="0"/>
      <p:regular r:id="rId21"/>
      <p:bold r:id="rId22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96EE"/>
    <a:srgbClr val="8D2CA5"/>
    <a:srgbClr val="FFF3F3"/>
    <a:srgbClr val="E5E7EE"/>
    <a:srgbClr val="FBE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Világos stílus 1 – 5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AD9EF8-F5FB-95D1-2CB0-66CCC81D3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CD41092-DC27-98A8-89C5-1F806EF5F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72A1D1-A157-D1DB-B38B-F4179873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DE51E0-DB18-3CC9-2673-969AB40F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E175EB9-3CCB-D963-E83B-80B42BFE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125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B37932-1333-F3CE-9CAB-C757E0D7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28FD11-C8E9-72AF-9687-B9EF430E4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EB97DE-0E00-12A4-EFFB-BE3E585AC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44697B-8935-5AC7-356E-42F90B81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1CE3217-5CB1-4E12-E24C-CA435F6C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7930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560C94-AFF8-2C35-FAF8-8E763D02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D7E705A-5A42-156D-698D-0F93A9943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C1BE70-2DA4-757E-E565-47913443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B71316C-A5C3-97F1-7C6A-65AD2130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BBED158-5326-B277-C45B-2A4EFF7A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953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5F4D1D-050C-576A-9B4B-233C49A8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4DD897-F703-9ACA-9615-2E88DC0B8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296927E-11EA-51C9-35C3-D9FFF5DDF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403A8D5-A75B-BBDB-3808-AED0D749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2504998-DE05-3E0E-8BD3-F1BB0218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43CAF66-954B-0CB8-9062-BB06BEC9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524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710DFF-D595-A212-0C69-69E6C5C4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9C9E3A5-9C32-A4A9-3734-399CA4DC3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3F6BA74-E6D0-F970-E3CC-39266379D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F8DEB59B-C62D-86A5-5387-A7A830490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1EAFA5C-425B-8091-CAC2-DD64C667E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4B02214-79BA-85D4-0E87-0B93E780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101768A-B933-B2A0-1EC6-56999F3B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7D30158-BE8F-29F6-8127-6EFC3A03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886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29F727-2CF5-A300-87BE-AD4CF202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BB739BA-8E6E-B8CC-47AF-50ED9546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9AFC310-D197-1ADA-2F0B-CBE5EEB2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222BA11-D00C-9616-958D-E9911B8A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021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84FA29E-1CD4-7E9B-E077-FF73016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2C12083-AAD2-F5AA-F104-B3FFD7D05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E015C6C-D1D0-3C1E-8038-2864C834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7384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062BD4-4A81-CA34-19B9-D6EB0A0C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80E662-02A4-6D3C-D090-1C5618210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023EF91-EC31-8565-9274-2C610372F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994C46D-522C-365E-E839-1099D4FC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F0D9D2C-3BED-D7B3-F81B-767AA39C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5ABE30F-D557-04D3-FA7E-110B4FF3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370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230CC7-4F58-FE8A-66C5-E897C28C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CAF3A1B-0C97-5736-00E6-2B1FD6441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4204CD9-F695-D2FA-4597-C5EFE89A7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D286E21-975C-A07D-54A4-7BDD2612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A7A9985-B553-87B1-DE00-E6D1E4CD4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4228EA9-0E54-9A47-76C0-724E6324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788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372A7B-3C3E-3706-E275-0316FEFC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A29AAAA-6F4A-E7AA-9F8E-099B670DE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981A95-9922-FECD-90BD-15B6F99E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266780-1BA1-37E6-13E1-252AF69C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83CF1D2-DD41-DB3B-D0A2-7033E9A8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607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A35B2EF-727E-B1A2-C3FF-C71DAEB69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E3AF620-878C-AABA-CF1D-C9F2628CA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C9E0D4A-B136-29A5-6FD9-D0AD5287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B575CC4-664A-6B7A-5703-3FEA2DA1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D6BD65-C159-0B11-343C-4E525AF6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121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8C0E30F-54AC-9F66-48E5-71F7A1292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EBDB690-168F-3B50-F267-04B37382E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CE1CE96-C840-D4F6-FCC2-A9276675E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7C99B-0B58-45E8-9D36-194E0665B11C}" type="datetimeFigureOut">
              <a:rPr lang="hu-HU" smtClean="0"/>
              <a:t>2026. 03. 03.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305D1FA-98B6-FAAA-E86E-71559B143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688827-930C-CA4E-CE80-A6AAFC607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7005A-5F02-433D-950A-3FB2CF480D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861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6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5DF14476-7270-A97A-AC32-3DE5ECF39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628105"/>
            <a:ext cx="9144000" cy="1655762"/>
          </a:xfrm>
        </p:spPr>
        <p:txBody>
          <a:bodyPr/>
          <a:lstStyle/>
          <a:p>
            <a:pPr algn="r"/>
            <a:r>
              <a:rPr lang="hu-HU" dirty="0"/>
              <a:t>Szücs Gergely, </a:t>
            </a:r>
            <a:r>
              <a:rPr lang="hu-HU" dirty="0">
                <a:latin typeface="Texturina" pitchFamily="2" charset="-18"/>
                <a:ea typeface="Texturina" pitchFamily="2" charset="-18"/>
              </a:rPr>
              <a:t>Katona</a:t>
            </a:r>
            <a:r>
              <a:rPr lang="hu-HU" dirty="0"/>
              <a:t> Zalán</a:t>
            </a:r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86397210-BD8C-835A-0548-3F11F5321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3404" y="1477775"/>
            <a:ext cx="6025189" cy="285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12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A9E48B-9088-B899-2CF0-60CB7FEF1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márka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D7A9A47-ECD3-F07D-C615-72E01E465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 algn="just">
              <a:buNone/>
            </a:pPr>
            <a:r>
              <a:rPr lang="hu-HU" dirty="0"/>
              <a:t>Az </a:t>
            </a:r>
            <a:r>
              <a:rPr lang="hu-HU" dirty="0" err="1"/>
              <a:t>Oak&amp;Glass</a:t>
            </a:r>
            <a:r>
              <a:rPr lang="hu-HU" dirty="0"/>
              <a:t> egy prémium alkohol italokat forgalmazó márka.</a:t>
            </a:r>
          </a:p>
          <a:p>
            <a:pPr marL="0" indent="0" algn="ctr">
              <a:buNone/>
            </a:pPr>
            <a:r>
              <a:rPr lang="hu-HU" dirty="0"/>
              <a:t>Kínálatunkban több féle ital is megtalálható, például whisky, borok, pálinkák. 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36B8999-557C-EC5A-D58C-4F78AD1160F0}"/>
              </a:ext>
            </a:extLst>
          </p:cNvPr>
          <p:cNvSpPr txBox="1"/>
          <p:nvPr/>
        </p:nvSpPr>
        <p:spPr>
          <a:xfrm>
            <a:off x="838200" y="4038916"/>
            <a:ext cx="10515600" cy="1384995"/>
          </a:xfrm>
          <a:prstGeom prst="rect">
            <a:avLst/>
          </a:prstGeo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hu-HU" sz="2800" dirty="0"/>
              <a:t>Webshopunkon termékeink mellett blog bejegyzések is olvashatók, melyek bemutatást adnak a felsőpolcos italainkról, és egyéb tippeket fogyasztásukról.</a:t>
            </a:r>
          </a:p>
        </p:txBody>
      </p:sp>
    </p:spTree>
    <p:extLst>
      <p:ext uri="{BB962C8B-B14F-4D97-AF65-F5344CB8AC3E}">
        <p14:creationId xmlns:p14="http://schemas.microsoft.com/office/powerpoint/2010/main" val="1926813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429886-72E6-D888-D62C-04F7A0FC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154431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CCC6F9-F98E-56C6-D2EC-64F1F680C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Főoldal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DC12AD-C236-2260-68BD-08667086E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576"/>
            <a:ext cx="10515600" cy="3408848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hu-HU" dirty="0"/>
              <a:t>Oldalunkra lépve a felhasználót egy kép „körhinta” fogadja, amin felkapott termékek láthatók.</a:t>
            </a:r>
          </a:p>
          <a:p>
            <a:pPr marL="0" indent="0">
              <a:buNone/>
            </a:pPr>
            <a:endParaRPr lang="hu-HU" dirty="0"/>
          </a:p>
          <a:p>
            <a:pPr marL="0" indent="0" algn="just">
              <a:buNone/>
            </a:pPr>
            <a:r>
              <a:rPr lang="hu-HU" dirty="0"/>
              <a:t>Ez alatt található egy naptár, ami a mai napot mutatja, valamint a blog bejegyzéseket tartalmazó szekció.</a:t>
            </a:r>
          </a:p>
          <a:p>
            <a:pPr marL="0" indent="0" algn="just">
              <a:buNone/>
            </a:pPr>
            <a:endParaRPr lang="hu-HU" dirty="0"/>
          </a:p>
          <a:p>
            <a:pPr marL="0" indent="0" algn="just">
              <a:buNone/>
            </a:pPr>
            <a:r>
              <a:rPr lang="hu-HU" dirty="0"/>
              <a:t>A blog bejegyzésekre kattintva megnyitható a tartalmuk</a:t>
            </a:r>
          </a:p>
        </p:txBody>
      </p:sp>
    </p:spTree>
    <p:extLst>
      <p:ext uri="{BB962C8B-B14F-4D97-AF65-F5344CB8AC3E}">
        <p14:creationId xmlns:p14="http://schemas.microsoft.com/office/powerpoint/2010/main" val="166379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348FB1-26E3-C7A5-B044-072D0EBB1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Navigációs sáv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BD2953-9FBB-1D6A-0568-232543C49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hu-HU" dirty="0"/>
              <a:t>A navigációs menü 3 részre oszlik.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Bal szélétől kezdve a szabadon elérhető oldalak találhatók: kezdőlap, termékek, rólunk.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menü jobb oldalán a bejelentkezés, valamint bejelentkezés után a profil menüpontok kapnak helyet.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sáv jobb szélén található a megjelenítési módot váltó kapcsoló.</a:t>
            </a:r>
          </a:p>
        </p:txBody>
      </p:sp>
    </p:spTree>
    <p:extLst>
      <p:ext uri="{BB962C8B-B14F-4D97-AF65-F5344CB8AC3E}">
        <p14:creationId xmlns:p14="http://schemas.microsoft.com/office/powerpoint/2010/main" val="361683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4464F4-B9B1-A660-3AF8-285C6FEE8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Bejelentkezési menü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A3D3113-E7AC-AEC9-63F6-4DB52036D4B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hu-HU" dirty="0"/>
              <a:t>A bejelentkezési menü egy felugró menüben kap helyet a regisztrációval együtt. </a:t>
            </a:r>
          </a:p>
          <a:p>
            <a:pPr marL="0" indent="0">
              <a:buNone/>
            </a:pPr>
            <a:r>
              <a:rPr lang="hu-HU" dirty="0"/>
              <a:t>A két menü egy kapcsolóval válható.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bejelentkezési menün megtalálható egy „Elfelejtett jelszó” gomb, ami jelszó visszaállító email küldését kezdeményezi.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regisztrációs menün helyet kapott egy jelölőnégyzet, ami hírlevélre való feliratkozásra ad lehetőséget.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80019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8403D9-B142-C10D-D89D-1C77A780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Profil menüpont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C429A1-3358-9381-E17B-BD95E85BF4F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hu-HU" dirty="0"/>
              <a:t>A profil menü helyet ad a </a:t>
            </a:r>
          </a:p>
          <a:p>
            <a:pPr>
              <a:buFontTx/>
              <a:buChar char="-"/>
            </a:pPr>
            <a:r>
              <a:rPr lang="hu-HU" dirty="0"/>
              <a:t>profil adatait tartalmazó oldalnak,</a:t>
            </a:r>
          </a:p>
          <a:p>
            <a:pPr>
              <a:buFontTx/>
              <a:buChar char="-"/>
            </a:pPr>
            <a:r>
              <a:rPr lang="hu-HU" dirty="0"/>
              <a:t>a kedvenc termékeknek,</a:t>
            </a:r>
          </a:p>
          <a:p>
            <a:pPr>
              <a:buFontTx/>
              <a:buChar char="-"/>
            </a:pPr>
            <a:r>
              <a:rPr lang="hu-HU" dirty="0"/>
              <a:t>kosárnak,</a:t>
            </a:r>
          </a:p>
          <a:p>
            <a:pPr>
              <a:buFontTx/>
              <a:buChar char="-"/>
            </a:pPr>
            <a:r>
              <a:rPr lang="hu-HU" dirty="0"/>
              <a:t>előző rendeléseknek,</a:t>
            </a:r>
          </a:p>
          <a:p>
            <a:pPr>
              <a:buFontTx/>
              <a:buChar char="-"/>
            </a:pPr>
            <a:r>
              <a:rPr lang="hu-HU" dirty="0"/>
              <a:t>és a kijelentkezés gombnak.</a:t>
            </a:r>
          </a:p>
        </p:txBody>
      </p:sp>
    </p:spTree>
    <p:extLst>
      <p:ext uri="{BB962C8B-B14F-4D97-AF65-F5344CB8AC3E}">
        <p14:creationId xmlns:p14="http://schemas.microsoft.com/office/powerpoint/2010/main" val="133358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E07984-100E-4D23-1D14-8A073DEF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Kedvencek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2B3E0E4-AF70-191E-C6D1-FF6D25F0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4918"/>
            <a:ext cx="10515600" cy="1188163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hu-HU" dirty="0"/>
              <a:t>Ezen az oldalon a felhasználó megtekintheti a mentett kedvenceit, valamint törölheti azokat</a:t>
            </a:r>
          </a:p>
        </p:txBody>
      </p:sp>
    </p:spTree>
    <p:extLst>
      <p:ext uri="{BB962C8B-B14F-4D97-AF65-F5344CB8AC3E}">
        <p14:creationId xmlns:p14="http://schemas.microsoft.com/office/powerpoint/2010/main" val="2937745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498871-B1DB-9D38-76EA-442C283B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Kosár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D7FEB0-6A8D-881E-8FA3-73A812E6B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65433" cy="1085526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hu-HU" dirty="0"/>
              <a:t>A kosár oldal a felhasználó által megvásárolni kívánt termékek felsorolását tartalmazza.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235A479-C505-B97E-3DF8-4C03ACE09804}"/>
              </a:ext>
            </a:extLst>
          </p:cNvPr>
          <p:cNvSpPr txBox="1"/>
          <p:nvPr/>
        </p:nvSpPr>
        <p:spPr>
          <a:xfrm>
            <a:off x="1313283" y="3613031"/>
            <a:ext cx="9565433" cy="954107"/>
          </a:xfrm>
          <a:prstGeom prst="rect">
            <a:avLst/>
          </a:prstGeo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2800" dirty="0"/>
              <a:t>Itt módosítható a rendelni kívánt mennyiség, törölhető az adott elem, vagy kiüríthető a teljes kosár.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16FD85F-21CD-8A3A-F391-48AC387C4DEC}"/>
              </a:ext>
            </a:extLst>
          </p:cNvPr>
          <p:cNvSpPr txBox="1"/>
          <p:nvPr/>
        </p:nvSpPr>
        <p:spPr>
          <a:xfrm>
            <a:off x="1788367" y="5269018"/>
            <a:ext cx="9565433" cy="954107"/>
          </a:xfrm>
          <a:prstGeom prst="rect">
            <a:avLst/>
          </a:prstGeo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r"/>
            <a:r>
              <a:rPr lang="hu-HU" sz="2800" dirty="0"/>
              <a:t>Az oldal tartalmazza a kosár teljes értékét is, valamint a rendelést is ezen itt lehet leadni.</a:t>
            </a:r>
          </a:p>
        </p:txBody>
      </p:sp>
    </p:spTree>
    <p:extLst>
      <p:ext uri="{BB962C8B-B14F-4D97-AF65-F5344CB8AC3E}">
        <p14:creationId xmlns:p14="http://schemas.microsoft.com/office/powerpoint/2010/main" val="309024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B58FDF-5FF9-B59E-1ABA-0D5415EE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Véglegesítés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F43483-0AC2-FDC8-466D-9A6C4176AE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hu-HU" dirty="0"/>
              <a:t>A rendelés leadása gomb egy új oldalra viszi a felhasználót, ahol még egyszer ellenőrizheti az adatait.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rendelés leadása előtt a felhasználónak meg kell adnia számlázási/szállítási adatait, a fizetés módját, valamint az ahhoz szükséges adatokat.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felhasználó a rendelés véglegesítése gombbal tudja leadni rendelését.</a:t>
            </a:r>
          </a:p>
        </p:txBody>
      </p:sp>
    </p:spTree>
    <p:extLst>
      <p:ext uri="{BB962C8B-B14F-4D97-AF65-F5344CB8AC3E}">
        <p14:creationId xmlns:p14="http://schemas.microsoft.com/office/powerpoint/2010/main" val="2838593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1C66D5-E81A-B097-F2F9-B0990B85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Termékek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70C054D-D7A0-DA1A-B409-81609141CD0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hu-HU" dirty="0"/>
              <a:t>A termékek oldal két fő részből áll. Az első rész a szűrés és rendezés.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u-HU" dirty="0"/>
              <a:t>Lehetőség van keresésre, az italok minden tulajdonsága szerinti szűrésre valamint rendezésre is több szempont alapján.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u-HU" dirty="0"/>
              <a:t>A második részen a termékek felsorolása található. Minden terméken található csillag gombbal helyezhető az adott termék kedvencek közé.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u-HU" dirty="0"/>
              <a:t>Az oldal alján helyet kap egy oldal váltó gomb is.</a:t>
            </a:r>
          </a:p>
        </p:txBody>
      </p:sp>
    </p:spTree>
    <p:extLst>
      <p:ext uri="{BB962C8B-B14F-4D97-AF65-F5344CB8AC3E}">
        <p14:creationId xmlns:p14="http://schemas.microsoft.com/office/powerpoint/2010/main" val="3958208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56868A-9C24-C1F4-92C2-71C99F72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Rólunk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703872-492B-1215-0820-4002D34F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3620"/>
            <a:ext cx="10515600" cy="1430759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hu-HU" dirty="0"/>
              <a:t>A rólunk oldalon a felhasználó cégünk történetébe kaphat betekintést, valamint megismerkedhet a weboldalért felelős fejlesztőcsapattal.</a:t>
            </a:r>
          </a:p>
        </p:txBody>
      </p:sp>
    </p:spTree>
    <p:extLst>
      <p:ext uri="{BB962C8B-B14F-4D97-AF65-F5344CB8AC3E}">
        <p14:creationId xmlns:p14="http://schemas.microsoft.com/office/powerpoint/2010/main" val="66860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429886-72E6-D888-D62C-04F7A0FC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GB" dirty="0"/>
              <a:t>Backend, Deploy &amp; </a:t>
            </a:r>
            <a:r>
              <a:rPr lang="en-GB" dirty="0" err="1"/>
              <a:t>Elérés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5004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B58FDF-5FF9-B59E-1ABA-0D5415EE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Biztonság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F43483-0AC2-FDC8-466D-9A6C4176AE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r>
              <a:rPr lang="en-GB" dirty="0"/>
              <a:t>Minden </a:t>
            </a:r>
            <a:r>
              <a:rPr lang="en-GB" dirty="0" err="1"/>
              <a:t>személyes</a:t>
            </a:r>
            <a:r>
              <a:rPr lang="en-GB" dirty="0"/>
              <a:t> </a:t>
            </a:r>
            <a:r>
              <a:rPr lang="en-GB" dirty="0" err="1"/>
              <a:t>adat</a:t>
            </a:r>
            <a:r>
              <a:rPr lang="en-GB" dirty="0"/>
              <a:t> </a:t>
            </a:r>
            <a:r>
              <a:rPr lang="en-GB" dirty="0" err="1"/>
              <a:t>titkosítva</a:t>
            </a:r>
            <a:r>
              <a:rPr lang="en-GB" dirty="0"/>
              <a:t> van </a:t>
            </a:r>
            <a:r>
              <a:rPr lang="en-GB" dirty="0" err="1"/>
              <a:t>tárolva</a:t>
            </a:r>
            <a:endParaRPr lang="en-GB" dirty="0"/>
          </a:p>
          <a:p>
            <a:r>
              <a:rPr lang="en-GB" dirty="0" err="1"/>
              <a:t>Bejelentkezés</a:t>
            </a:r>
            <a:r>
              <a:rPr lang="en-GB" dirty="0"/>
              <a:t> </a:t>
            </a:r>
            <a:r>
              <a:rPr lang="en-GB" dirty="0" err="1"/>
              <a:t>előre</a:t>
            </a:r>
            <a:r>
              <a:rPr lang="en-GB" dirty="0"/>
              <a:t> </a:t>
            </a:r>
            <a:r>
              <a:rPr lang="en-GB" i="1" dirty="0"/>
              <a:t>“</a:t>
            </a:r>
            <a:r>
              <a:rPr lang="en-GB" i="1" dirty="0" err="1"/>
              <a:t>sósozott</a:t>
            </a:r>
            <a:r>
              <a:rPr lang="en-GB" i="1" dirty="0"/>
              <a:t>” </a:t>
            </a:r>
            <a:r>
              <a:rPr lang="en-GB" dirty="0" err="1"/>
              <a:t>adatokkal</a:t>
            </a:r>
            <a:r>
              <a:rPr lang="en-GB" dirty="0"/>
              <a:t> </a:t>
            </a:r>
            <a:r>
              <a:rPr lang="en-GB" dirty="0" err="1"/>
              <a:t>keresi</a:t>
            </a:r>
            <a:r>
              <a:rPr lang="en-GB" dirty="0"/>
              <a:t> a </a:t>
            </a:r>
            <a:r>
              <a:rPr lang="en-GB" dirty="0" err="1"/>
              <a:t>felhasználót</a:t>
            </a:r>
            <a:endParaRPr lang="en-GB" dirty="0"/>
          </a:p>
          <a:p>
            <a:r>
              <a:rPr lang="en-GB" dirty="0"/>
              <a:t>A </a:t>
            </a:r>
            <a:r>
              <a:rPr lang="en-GB" dirty="0" err="1"/>
              <a:t>jelszavon</a:t>
            </a:r>
            <a:r>
              <a:rPr lang="en-GB" dirty="0"/>
              <a:t> </a:t>
            </a:r>
            <a:r>
              <a:rPr lang="en-GB" dirty="0" err="1"/>
              <a:t>kívül</a:t>
            </a:r>
            <a:r>
              <a:rPr lang="en-GB" dirty="0"/>
              <a:t> </a:t>
            </a:r>
            <a:r>
              <a:rPr lang="en-GB" dirty="0" err="1"/>
              <a:t>minden</a:t>
            </a:r>
            <a:r>
              <a:rPr lang="en-GB" dirty="0"/>
              <a:t> </a:t>
            </a:r>
            <a:r>
              <a:rPr lang="en-GB" dirty="0" err="1"/>
              <a:t>adat</a:t>
            </a:r>
            <a:r>
              <a:rPr lang="en-GB" dirty="0"/>
              <a:t> </a:t>
            </a:r>
            <a:r>
              <a:rPr lang="en-GB" u="sng" dirty="0" err="1"/>
              <a:t>visszafejthetően</a:t>
            </a:r>
            <a:r>
              <a:rPr lang="en-GB" u="sng" dirty="0"/>
              <a:t> </a:t>
            </a:r>
            <a:r>
              <a:rPr lang="en-GB" u="sng" dirty="0" err="1"/>
              <a:t>titkosít</a:t>
            </a:r>
            <a:r>
              <a:rPr lang="en-GB" dirty="0" err="1"/>
              <a:t>va</a:t>
            </a:r>
            <a:r>
              <a:rPr lang="en-GB" dirty="0"/>
              <a:t> van, pl email, </a:t>
            </a:r>
            <a:r>
              <a:rPr lang="en-GB" dirty="0" err="1"/>
              <a:t>azért</a:t>
            </a:r>
            <a:r>
              <a:rPr lang="en-GB" dirty="0"/>
              <a:t> </a:t>
            </a:r>
            <a:r>
              <a:rPr lang="en-GB" dirty="0" err="1"/>
              <a:t>hogy</a:t>
            </a:r>
            <a:r>
              <a:rPr lang="en-GB" dirty="0"/>
              <a:t> a </a:t>
            </a:r>
            <a:r>
              <a:rPr lang="en-GB" dirty="0" err="1"/>
              <a:t>profil</a:t>
            </a:r>
            <a:r>
              <a:rPr lang="en-GB" dirty="0"/>
              <a:t> </a:t>
            </a:r>
            <a:r>
              <a:rPr lang="en-GB" dirty="0" err="1"/>
              <a:t>oldalon</a:t>
            </a:r>
            <a:r>
              <a:rPr lang="en-GB" dirty="0"/>
              <a:t> </a:t>
            </a:r>
            <a:r>
              <a:rPr lang="en-GB" dirty="0" err="1"/>
              <a:t>megjelenítődjön</a:t>
            </a:r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2519F02-CA47-C966-2D6F-AF426A59B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3986213"/>
            <a:ext cx="74485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2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B58FDF-5FF9-B59E-1ABA-0D5415EE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Biztonság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F43483-0AC2-FDC8-466D-9A6C4176AE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r>
              <a:rPr lang="hu-HU" dirty="0"/>
              <a:t>Az </a:t>
            </a:r>
            <a:r>
              <a:rPr lang="hu-HU" dirty="0" err="1"/>
              <a:t>access</a:t>
            </a:r>
            <a:r>
              <a:rPr lang="hu-HU" dirty="0"/>
              <a:t> </a:t>
            </a:r>
            <a:r>
              <a:rPr lang="hu-HU" dirty="0" err="1"/>
              <a:t>token</a:t>
            </a:r>
            <a:r>
              <a:rPr lang="hu-HU" dirty="0"/>
              <a:t> egy rövid távú „belépőkártya” a védett erőforrásokhoz, a </a:t>
            </a:r>
            <a:r>
              <a:rPr lang="hu-HU" dirty="0" err="1"/>
              <a:t>refresh</a:t>
            </a:r>
            <a:r>
              <a:rPr lang="hu-HU" dirty="0"/>
              <a:t> </a:t>
            </a:r>
            <a:r>
              <a:rPr lang="hu-HU" dirty="0" err="1"/>
              <a:t>token</a:t>
            </a:r>
            <a:r>
              <a:rPr lang="hu-HU" dirty="0"/>
              <a:t> pedig arra szolgál, hogy lejáratkor új </a:t>
            </a:r>
            <a:r>
              <a:rPr lang="hu-HU" dirty="0" err="1"/>
              <a:t>access</a:t>
            </a:r>
            <a:r>
              <a:rPr lang="hu-HU" dirty="0"/>
              <a:t> </a:t>
            </a:r>
            <a:r>
              <a:rPr lang="hu-HU" dirty="0" err="1"/>
              <a:t>tokent</a:t>
            </a:r>
            <a:r>
              <a:rPr lang="hu-HU" dirty="0"/>
              <a:t> igényeljünk vele anélkül, hogy a felhasználónak újra be kellene jelentkeznie.</a:t>
            </a:r>
            <a:endParaRPr lang="en-GB" dirty="0"/>
          </a:p>
          <a:p>
            <a:r>
              <a:rPr lang="en-GB" dirty="0"/>
              <a:t>Email </a:t>
            </a:r>
            <a:r>
              <a:rPr lang="en-GB" dirty="0" err="1"/>
              <a:t>cím</a:t>
            </a:r>
            <a:r>
              <a:rPr lang="en-GB" dirty="0"/>
              <a:t> </a:t>
            </a:r>
            <a:r>
              <a:rPr lang="en-GB" dirty="0" err="1"/>
              <a:t>megerősítése</a:t>
            </a:r>
            <a:r>
              <a:rPr lang="en-GB" dirty="0"/>
              <a:t> </a:t>
            </a:r>
            <a:r>
              <a:rPr lang="en-GB" dirty="0" err="1"/>
              <a:t>első</a:t>
            </a:r>
            <a:r>
              <a:rPr lang="en-GB" dirty="0"/>
              <a:t> </a:t>
            </a:r>
            <a:r>
              <a:rPr lang="en-GB" dirty="0" err="1"/>
              <a:t>bejelentkezés</a:t>
            </a:r>
            <a:r>
              <a:rPr lang="en-GB" dirty="0"/>
              <a:t> </a:t>
            </a:r>
            <a:r>
              <a:rPr lang="en-GB" dirty="0" err="1"/>
              <a:t>előtt</a:t>
            </a:r>
            <a:r>
              <a:rPr lang="en-GB" dirty="0"/>
              <a:t>!</a:t>
            </a:r>
          </a:p>
          <a:p>
            <a:r>
              <a:rPr lang="en-GB" dirty="0" err="1"/>
              <a:t>Elfelejtettem</a:t>
            </a:r>
            <a:r>
              <a:rPr lang="en-GB" dirty="0"/>
              <a:t> a </a:t>
            </a:r>
            <a:r>
              <a:rPr lang="en-GB" dirty="0" err="1"/>
              <a:t>jelszavamat</a:t>
            </a:r>
            <a:r>
              <a:rPr lang="en-GB" dirty="0"/>
              <a:t>: </a:t>
            </a:r>
            <a:r>
              <a:rPr lang="en-GB" dirty="0" err="1"/>
              <a:t>Új</a:t>
            </a:r>
            <a:r>
              <a:rPr lang="en-GB" dirty="0"/>
              <a:t> </a:t>
            </a:r>
            <a:r>
              <a:rPr lang="en-GB" dirty="0" err="1"/>
              <a:t>jelszó</a:t>
            </a:r>
            <a:r>
              <a:rPr lang="en-GB" dirty="0"/>
              <a:t> </a:t>
            </a:r>
            <a:r>
              <a:rPr lang="en-GB" dirty="0" err="1"/>
              <a:t>kérése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4557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B58FDF-5FF9-B59E-1ABA-0D5415EE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Képek</a:t>
            </a:r>
            <a:r>
              <a:rPr lang="en-GB" dirty="0"/>
              <a:t> </a:t>
            </a:r>
            <a:r>
              <a:rPr lang="en-GB" dirty="0" err="1"/>
              <a:t>kiszolgálása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F43483-0AC2-FDC8-466D-9A6C4176AE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r>
              <a:rPr lang="en-GB" dirty="0" err="1"/>
              <a:t>Saját</a:t>
            </a:r>
            <a:r>
              <a:rPr lang="en-GB" dirty="0"/>
              <a:t> discord bot </a:t>
            </a:r>
            <a:r>
              <a:rPr lang="en-GB" dirty="0" err="1"/>
              <a:t>biztosítja</a:t>
            </a:r>
            <a:r>
              <a:rPr lang="en-GB" dirty="0"/>
              <a:t> a </a:t>
            </a:r>
            <a:r>
              <a:rPr lang="en-GB" dirty="0" err="1"/>
              <a:t>képeket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6340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B58FDF-5FF9-B59E-1ABA-0D5415EE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Futtatás</a:t>
            </a:r>
            <a:r>
              <a:rPr lang="en-GB" dirty="0"/>
              <a:t> </a:t>
            </a:r>
            <a:r>
              <a:rPr lang="en-GB" dirty="0" err="1"/>
              <a:t>akárhol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F43483-0AC2-FDC8-466D-9A6C4176AE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r>
              <a:rPr lang="en-GB" dirty="0"/>
              <a:t>A </a:t>
            </a:r>
            <a:r>
              <a:rPr lang="en-GB" dirty="0" err="1"/>
              <a:t>Repoban</a:t>
            </a:r>
            <a:r>
              <a:rPr lang="en-GB" dirty="0"/>
              <a:t> </a:t>
            </a:r>
            <a:r>
              <a:rPr lang="en-GB" dirty="0" err="1"/>
              <a:t>megtalálható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“docker-</a:t>
            </a:r>
            <a:r>
              <a:rPr lang="en-GB" dirty="0" err="1"/>
              <a:t>compose.yaml</a:t>
            </a:r>
            <a:r>
              <a:rPr lang="en-GB" dirty="0"/>
              <a:t>” </a:t>
            </a:r>
            <a:r>
              <a:rPr lang="en-GB" dirty="0" err="1"/>
              <a:t>fájl</a:t>
            </a:r>
            <a:r>
              <a:rPr lang="en-GB" dirty="0"/>
              <a:t>, </a:t>
            </a:r>
            <a:r>
              <a:rPr lang="en-GB" dirty="0" err="1"/>
              <a:t>ami</a:t>
            </a:r>
            <a:r>
              <a:rPr lang="en-GB" dirty="0"/>
              <a:t> </a:t>
            </a:r>
            <a:r>
              <a:rPr lang="en-GB" dirty="0" err="1"/>
              <a:t>lehetővé</a:t>
            </a:r>
            <a:r>
              <a:rPr lang="en-GB" dirty="0"/>
              <a:t> </a:t>
            </a:r>
            <a:r>
              <a:rPr lang="en-GB" dirty="0" err="1"/>
              <a:t>teszi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oldal</a:t>
            </a:r>
            <a:r>
              <a:rPr lang="en-GB" dirty="0"/>
              <a:t> </a:t>
            </a:r>
            <a:r>
              <a:rPr lang="en-GB" dirty="0" err="1"/>
              <a:t>futtatását</a:t>
            </a:r>
            <a:r>
              <a:rPr lang="en-GB" dirty="0"/>
              <a:t> </a:t>
            </a:r>
            <a:r>
              <a:rPr lang="en-GB" dirty="0" err="1"/>
              <a:t>akárhol</a:t>
            </a:r>
            <a:r>
              <a:rPr lang="en-GB" dirty="0"/>
              <a:t>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u="sng" dirty="0" err="1">
                <a:solidFill>
                  <a:srgbClr val="8D2CA5"/>
                </a:solidFill>
              </a:rPr>
              <a:t>Podmant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/ </a:t>
            </a:r>
            <a:r>
              <a:rPr lang="en-GB" u="sng" dirty="0" err="1">
                <a:solidFill>
                  <a:srgbClr val="2396EE"/>
                </a:solidFill>
              </a:rPr>
              <a:t>Dockert</a:t>
            </a:r>
            <a:r>
              <a:rPr lang="en-GB" dirty="0"/>
              <a:t> </a:t>
            </a:r>
            <a:r>
              <a:rPr lang="en-GB" dirty="0" err="1"/>
              <a:t>kell</a:t>
            </a:r>
            <a:r>
              <a:rPr lang="en-GB" dirty="0"/>
              <a:t> </a:t>
            </a:r>
            <a:r>
              <a:rPr lang="en-GB" dirty="0" err="1"/>
              <a:t>letölteni</a:t>
            </a:r>
            <a:r>
              <a:rPr lang="en-GB" dirty="0"/>
              <a:t> a </a:t>
            </a:r>
            <a:r>
              <a:rPr lang="en-GB" dirty="0" err="1"/>
              <a:t>gépre</a:t>
            </a:r>
            <a:endParaRPr lang="en-GB" dirty="0"/>
          </a:p>
          <a:p>
            <a:r>
              <a:rPr lang="en-GB" dirty="0"/>
              <a:t>A backend </a:t>
            </a:r>
            <a:r>
              <a:rPr lang="en-GB" dirty="0" err="1"/>
              <a:t>mappában</a:t>
            </a:r>
            <a:r>
              <a:rPr lang="en-GB" dirty="0"/>
              <a:t> </a:t>
            </a:r>
            <a:r>
              <a:rPr lang="en-GB" dirty="0" err="1"/>
              <a:t>található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“</a:t>
            </a:r>
            <a:r>
              <a:rPr lang="en-GB" dirty="0" err="1"/>
              <a:t>configEXAMPLE.json</a:t>
            </a:r>
            <a:r>
              <a:rPr lang="en-GB" dirty="0"/>
              <a:t>” a </a:t>
            </a:r>
            <a:r>
              <a:rPr lang="en-GB" dirty="0" err="1"/>
              <a:t>környezeti</a:t>
            </a:r>
            <a:r>
              <a:rPr lang="en-GB" dirty="0"/>
              <a:t> </a:t>
            </a:r>
            <a:r>
              <a:rPr lang="en-GB" dirty="0" err="1"/>
              <a:t>változók</a:t>
            </a:r>
            <a:r>
              <a:rPr lang="en-GB" dirty="0"/>
              <a:t> </a:t>
            </a:r>
            <a:r>
              <a:rPr lang="en-GB" dirty="0" err="1"/>
              <a:t>beállításához</a:t>
            </a:r>
            <a:r>
              <a:rPr lang="en-GB" dirty="0"/>
              <a:t> (</a:t>
            </a:r>
            <a:r>
              <a:rPr lang="en-GB" dirty="0" err="1"/>
              <a:t>Módosítások</a:t>
            </a:r>
            <a:r>
              <a:rPr lang="en-GB" dirty="0"/>
              <a:t> </a:t>
            </a:r>
            <a:r>
              <a:rPr lang="en-GB" dirty="0" err="1"/>
              <a:t>szügségesek</a:t>
            </a:r>
            <a:r>
              <a:rPr lang="en-GB" dirty="0"/>
              <a:t>)</a:t>
            </a:r>
          </a:p>
        </p:txBody>
      </p:sp>
      <p:pic>
        <p:nvPicPr>
          <p:cNvPr id="1028" name="Picture 4" descr="Docker logo thumbnail transparent PNG - StickPNG">
            <a:extLst>
              <a:ext uri="{FF2B5EF4-FFF2-40B4-BE49-F238E27FC236}">
                <a16:creationId xmlns:a16="http://schemas.microsoft.com/office/drawing/2014/main" id="{73FC534D-64C9-64A5-C5FE-1FE49B512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415" y="2640810"/>
            <a:ext cx="516464" cy="51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inux Shell 实现一键部署podman_linux安装podman-CSDN博客">
            <a:extLst>
              <a:ext uri="{FF2B5EF4-FFF2-40B4-BE49-F238E27FC236}">
                <a16:creationId xmlns:a16="http://schemas.microsoft.com/office/drawing/2014/main" id="{07AA90F0-CC3D-62B3-E62C-F50493F08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415" y="2248701"/>
            <a:ext cx="516464" cy="39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81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B58FDF-5FF9-B59E-1ABA-0D5415EE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Elérés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F43483-0AC2-FDC8-466D-9A6C4176AE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r>
              <a:rPr lang="en-GB" dirty="0"/>
              <a:t>Az </a:t>
            </a:r>
            <a:r>
              <a:rPr lang="en-GB" dirty="0" err="1"/>
              <a:t>oldal</a:t>
            </a:r>
            <a:r>
              <a:rPr lang="en-GB" dirty="0"/>
              <a:t> </a:t>
            </a:r>
            <a:r>
              <a:rPr lang="en-GB" b="1" u="sng" dirty="0">
                <a:solidFill>
                  <a:schemeClr val="accent6">
                    <a:lumMod val="75000"/>
                  </a:schemeClr>
                </a:solidFill>
              </a:rPr>
              <a:t>oak.gerync.com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GB" dirty="0"/>
              <a:t>on </a:t>
            </a:r>
            <a:r>
              <a:rPr lang="en-GB" dirty="0" err="1"/>
              <a:t>érhető</a:t>
            </a:r>
            <a:r>
              <a:rPr lang="en-GB" dirty="0"/>
              <a:t> </a:t>
            </a:r>
            <a:r>
              <a:rPr lang="en-GB" dirty="0" err="1"/>
              <a:t>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91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EB0A09-B667-DEA9-EF7F-81B705D7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solidFill>
            <a:srgbClr val="FFF3F3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/>
          <a:lstStyle/>
          <a:p>
            <a:pPr algn="ctr"/>
            <a:r>
              <a:rPr lang="hu-HU" dirty="0">
                <a:latin typeface="Texturina"/>
              </a:rPr>
              <a:t>Köszönjük a figyelmet!</a:t>
            </a:r>
          </a:p>
        </p:txBody>
      </p:sp>
      <p:pic>
        <p:nvPicPr>
          <p:cNvPr id="4" name="Kép 3" descr="A képen szöveg, Kis- és közepes méretű macskák, Macskafélék, macs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E415B8E-2480-74DF-39F4-1D3E37C6E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327" y="4247586"/>
            <a:ext cx="2183346" cy="2487151"/>
          </a:xfrm>
          <a:prstGeom prst="roundRect">
            <a:avLst>
              <a:gd name="adj" fmla="val 1288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81850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1. egyéni séma">
      <a:dk1>
        <a:sysClr val="windowText" lastClr="000000"/>
      </a:dk1>
      <a:lt1>
        <a:srgbClr val="FBE6E9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1. egyéni séma">
      <a:majorFont>
        <a:latin typeface="Texturina"/>
        <a:ea typeface=""/>
        <a:cs typeface=""/>
      </a:majorFont>
      <a:minorFont>
        <a:latin typeface="Texturi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588</Words>
  <Application>Microsoft Office PowerPoint</Application>
  <PresentationFormat>Szélesvásznú</PresentationFormat>
  <Paragraphs>70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2" baseType="lpstr">
      <vt:lpstr>Texturina</vt:lpstr>
      <vt:lpstr>Arial</vt:lpstr>
      <vt:lpstr>Office-téma</vt:lpstr>
      <vt:lpstr>PowerPoint-bemutató</vt:lpstr>
      <vt:lpstr>A márka</vt:lpstr>
      <vt:lpstr>Frontend</vt:lpstr>
      <vt:lpstr>Főoldal</vt:lpstr>
      <vt:lpstr>Navigációs sáv</vt:lpstr>
      <vt:lpstr>Bejelentkezési menü</vt:lpstr>
      <vt:lpstr>Profil menüpont</vt:lpstr>
      <vt:lpstr>Kedvencek</vt:lpstr>
      <vt:lpstr>Kosár</vt:lpstr>
      <vt:lpstr>Véglegesítés</vt:lpstr>
      <vt:lpstr>Termékek</vt:lpstr>
      <vt:lpstr>Rólunk</vt:lpstr>
      <vt:lpstr>Backend, Deploy &amp; Elérés</vt:lpstr>
      <vt:lpstr>Biztonság</vt:lpstr>
      <vt:lpstr>Biztonság</vt:lpstr>
      <vt:lpstr>Képek kiszolgálása</vt:lpstr>
      <vt:lpstr>Futtatás akárhol</vt:lpstr>
      <vt:lpstr>Elérés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Zalán Katona</dc:creator>
  <cp:lastModifiedBy>Gergely Szücs</cp:lastModifiedBy>
  <cp:revision>3</cp:revision>
  <dcterms:created xsi:type="dcterms:W3CDTF">2026-03-03T18:00:34Z</dcterms:created>
  <dcterms:modified xsi:type="dcterms:W3CDTF">2026-03-03T22:46:53Z</dcterms:modified>
</cp:coreProperties>
</file>